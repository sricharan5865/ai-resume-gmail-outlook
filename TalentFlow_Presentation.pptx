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45752" cy="36576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13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366F1"/>
                </a:solidFill>
                <a:latin typeface="Arial"/>
              </a:defRPr>
            </a:pPr>
            <a:r>
              <a:t>TALENTFLOW</a:t>
            </a:r>
          </a:p>
          <a:p>
            <a:pPr algn="ctr">
              <a:spcBef>
                <a:spcPts val="12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Next-Generation AI Recruitment &amp; RAG Sourcing Suite</a:t>
            </a:r>
          </a:p>
          <a:p>
            <a:pPr algn="ctr">
              <a:spcBef>
                <a:spcPts val="15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Empowering HR Teams with Automated Sourcing, Semantic Matching, and Hallucination-Free Audits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VISION &amp; VALUE PROP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Executive Summary: Redefining Talent Acquisition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01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Smart Sourcing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Automatically reads incoming resume attachments from email and extracts text from low-contrast scans using Python 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Semantic Matching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Scores and ranks candidates against natural-language Job Descriptions using vector search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03</a:t>
            </a:r>
          </a:p>
          <a:p>
            <a:pPr>
              <a:spcBef>
                <a:spcPts val="1500"/>
              </a:spcBef>
              <a:defRPr sz="2000" b="1">
                <a:solidFill>
                  <a:srgbClr val="FFFFFF"/>
                </a:solidFill>
              </a:defRPr>
            </a:pPr>
            <a:r>
              <a:t>Audited Reliability</a:t>
            </a:r>
          </a:p>
          <a:p>
            <a:pPr>
              <a:spcBef>
                <a:spcPts val="1000"/>
              </a:spcBef>
              <a:defRPr sz="1400">
                <a:solidFill>
                  <a:srgbClr val="9CA3AF"/>
                </a:solidFill>
              </a:defRPr>
            </a:pPr>
            <a:r>
              <a:t>Eliminates AI hallucinations mathematically using a programmatic experience safety filter.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Market Problem: The Recruiter's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</a:defRPr>
            </a:pPr>
            <a:r>
              <a:t>THE RECRUITMENT BOTTLENECK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Manual Screening Limits Scale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75%+ of Resumes are unqualified, yet recruiters spend hours reviewing them manually.</a:t>
            </a:r>
            <a:br/>
            <a:r>
              <a:t>• Sourcing channels are fragmented (emails, portals, direct uploads) leading to lost candidate profiles.</a:t>
            </a:r>
            <a:br/>
            <a:r>
              <a:t>• Time-to-Hire stretches over weeks, resulting in top talent accepting competing offers before interviews can be scheduled.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</a:defRPr>
            </a:pPr>
            <a:r>
              <a:t>ADMINISTRATIVE BURDEN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High Volume, Low Efficiency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Recruiter Focus is split between sourcing administration, scheduling interviews, and candidate evaluations.</a:t>
            </a:r>
            <a:br/>
            <a:r>
              <a:t>• Database Pollution: Duplicate submissions and outdated profiles clog traditional applicant systems.</a:t>
            </a:r>
            <a:br/>
            <a:r>
              <a:t>• Assessment Gaps: Inconsistencies in the initial pre-screening phone-screen questions reduce quality-of-hire.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THE KEYWORD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Keyword Trap: Legacy ATS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</a:defRPr>
            </a:pPr>
            <a:r>
              <a:t>LEGACY KEYWORD FILTERS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Rigid and Non-Intuitive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Syntactic Matching: Rejects candidates who use synonyms instead of exact keywords (e.g. searching 'NodeJS' misses 'Express Developer').</a:t>
            </a:r>
            <a:br/>
            <a:r>
              <a:t>• Keyword Stuffing: Unqualified candidates game the system by pasting hidden keywords in their CV text.</a:t>
            </a:r>
            <a:br/>
            <a:r>
              <a:t>• No Understanding of Context: Treats a keyword in a hobby section same as one in a principal role.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TALENTFLOW SEMANTIC RAG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Conceptual Intelligence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Vector Embeddings: Understands core concepts, related technical packages, and equivalent roles natively.</a:t>
            </a:r>
            <a:br/>
            <a:r>
              <a:t>• Senses Experience Depth: Prioritizes skills based on time duration and impact descriptions in previous roles.</a:t>
            </a:r>
            <a:br/>
            <a:r>
              <a:t>• Intent-Based Queries: Search matches are returned based on what recruiters *mean*, not just the specific words they 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RELIABILITY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AI Deficit: LLM Hallucinations &amp; Date Math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7185"/>
                </a:solidFill>
              </a:defRPr>
            </a:pPr>
            <a:r>
              <a:t>THE PROBLEM WITH RAW LLMS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Hallucinations &amp; Date Bugs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• Static Context: LLMs don't know 'today's date' natively. They miscalculate durations for roles ending in 'Present'.</a:t>
            </a:r>
            <a:br/>
            <a:r>
              <a:t>• Syntactic Math Failures: AI models fail to compute sum timelines properly, flagging a candidate with 8 years of experience as missing a '5+ years' requirement.</a:t>
            </a:r>
            <a:br/>
            <a:r>
              <a:t>• Structural Failures: Raw completions truncate output or fail to return valid JSON parser schemas.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TALENTFLOW SAFEGUARDS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Structured Engineering Rules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• Dynamic Date Injection: Injecting context date on every API call allows the parser to compute relative dates reliably.</a:t>
            </a:r>
            <a:br/>
            <a:r>
              <a:t>• Programmatic Safety Filters: Post-processing code intercepts and validates LLM findings against mathematical candidate histories.</a:t>
            </a:r>
            <a:br/>
            <a:r>
              <a:t>• Hardened Token Configurations: Limits outputs and applies robust bracket repair algorithms to handle parsing mistakes.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OUR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TalentFlow Solution: Resilient Recruitment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5752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971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THE RECRUITMENT OPERATING SYSTEM</a:t>
            </a:r>
          </a:p>
          <a:p>
            <a:pPr>
              <a:spcBef>
                <a:spcPts val="1000"/>
              </a:spcBef>
              <a:defRPr sz="2400" b="1">
                <a:solidFill>
                  <a:srgbClr val="FFFFFF"/>
                </a:solidFill>
              </a:defRPr>
            </a:pPr>
            <a:r>
              <a:t>A Reliable, Safe, and Automated Platform</a:t>
            </a:r>
          </a:p>
          <a:p>
            <a:pPr>
              <a:spcBef>
                <a:spcPts val="2000"/>
              </a:spcBef>
              <a:defRPr sz="1600">
                <a:solidFill>
                  <a:srgbClr val="9CA3AF"/>
                </a:solidFill>
              </a:defRPr>
            </a:pPr>
            <a:r>
              <a:t>• Enterprise Integration: Collects resumes, normalizes data, and publishes structured files to MongoDB.</a:t>
            </a:r>
            <a:br/>
            <a:r>
              <a:t>• High-Performance UI: Glassmorphism HUD layout that handles large tables, date filtering, and active tabs natively.</a:t>
            </a:r>
            <a:br/>
            <a:r>
              <a:t>• Adaptive Intelligence: Switch backend models dynamically based on cost or speed demands (Gemini, Claude, Ollama).</a:t>
            </a:r>
            <a:br/>
            <a:r>
              <a:t>• Recruiter Control: Empowering decisions via transparent ratings, complete history log tracking, and security role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INGESTION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Hybrid Ingestion &amp; OCR Fallback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Manual Portal Upload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Recruiters upload standard PDF resumes directly. Node-Multer manages secure disk upload storage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Scheduled Email Sourcing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Cron scheduler loops (Gmail/Outlook) pull CV attachments automatically, categorizing them using AI classifiers.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✔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Python OCR Fallback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Scanned or low-contrast PDFs trigger Python routines (OpenCV preprocessing, PyMuPDF, and Tesseract-OCR) to capture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AI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Semantic RAG Search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VECTOR REPRESENTATIONS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Embedding &amp; Indexing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Semantic Vector Indexing: Translates parsed resume descriptions into high-dimensional vector representations.</a:t>
            </a:r>
            <a:br/>
            <a:r>
              <a:t>• In-Memory Fast Retrieval: Executes similarity vector searches across candidate profiles instantly in the backend.</a:t>
            </a:r>
            <a:br/>
            <a:r>
              <a:t>• Contextual Matching: Identifies candidates based on experience definitions, not just literal keyword spelling.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JOB DESCRIPTION MATCHING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JD Scoring &amp; Skill Mapping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Real-Time JD Matching: Pasting a JD ranks candidates by score (0-100), comparing resume content against required credentials.</a:t>
            </a:r>
            <a:br/>
            <a:r>
              <a:t>• Skills Gap Analysis: The UI renders color-coded badges highlighting 'Matching Skills' and 'Missing Skills' side-by-side.</a:t>
            </a:r>
            <a:br/>
            <a:r>
              <a:t>• Auto-generated JD Questions: Produces custom interview questions focused on resolved gaps.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SAFETY INTERCEPTOR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Algorithmic Safety Filters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DETERMINISTIC VERIFICATION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Curing LLM Hallucinations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Safety Layer Interception: Overrides LLM outputs using local Javascript date-math functions on candidate history arrays.</a:t>
            </a:r>
            <a:br/>
            <a:r>
              <a:t>• Dynamic Experience Alignment: Mathematically confirms timeline values (e.g. if timeline equals 8 years, auto-moves '5+ years' requirement to 'Matches').</a:t>
            </a:r>
            <a:br/>
            <a:r>
              <a:t>• Recruiter Validation: Ensures zero false negatives, preventing valid candidates from being hidden from recruiter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THE MATHEMATICAL GUARANTEE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Reliable Timeline Math</a:t>
            </a:r>
          </a:p>
          <a:p>
            <a:pPr>
              <a:spcBef>
                <a:spcPts val="2000"/>
              </a:spcBef>
              <a:defRPr sz="1400">
                <a:solidFill>
                  <a:srgbClr val="9CA3AF"/>
                </a:solidFill>
              </a:defRPr>
            </a:pPr>
            <a:r>
              <a:t>• Injects 'today's date' context dynamically to parse relative date keywords (e.g. 'Present').</a:t>
            </a:r>
            <a:br/>
            <a:r>
              <a:t>• Sanitizes candidate profiles before saving them to MongoDB, correcting duration errors.</a:t>
            </a:r>
            <a:br/>
            <a:r>
              <a:t>• Decouples unstructured LLM reasoning from strict business logic constraints, maintaining high system trust.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PIPELINE VISUALS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Pipeline Board &amp; Kanban HUD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Inbox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New applications gathered from email and portals.</a:t>
            </a:r>
          </a:p>
          <a:p>
            <a:pPr>
              <a:spcBef>
                <a:spcPts val="2500"/>
              </a:spcBef>
              <a:defRPr sz="1100" b="1">
                <a:solidFill>
                  <a:srgbClr val="FFFFF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Shortlist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Candidates matching key credentials.</a:t>
            </a:r>
          </a:p>
          <a:p>
            <a:pPr>
              <a:spcBef>
                <a:spcPts val="2500"/>
              </a:spcBef>
              <a:defRPr sz="1100" b="1">
                <a:solidFill>
                  <a:srgbClr val="FFFFF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7185"/>
                </a:solidFill>
              </a:defRPr>
            </a:pPr>
            <a:r>
              <a:t>Interview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Scheduled and mapped in recruiter lists.</a:t>
            </a:r>
          </a:p>
          <a:p>
            <a:pPr>
              <a:spcBef>
                <a:spcPts val="2500"/>
              </a:spcBef>
              <a:defRPr sz="1100" b="1">
                <a:solidFill>
                  <a:srgbClr val="FFFFF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Offered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Pre-screened and approved profiles.</a:t>
            </a:r>
          </a:p>
          <a:p>
            <a:pPr>
              <a:spcBef>
                <a:spcPts val="2500"/>
              </a:spcBef>
              <a:defRPr sz="1100" b="1">
                <a:solidFill>
                  <a:srgbClr val="FFFFF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645920"/>
            <a:ext cx="20116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82880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CA3AF"/>
                </a:solidFill>
              </a:defRPr>
            </a:pPr>
            <a:r>
              <a:t>Rejected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Archived files with clear reasons.</a:t>
            </a:r>
          </a:p>
          <a:p>
            <a:pPr>
              <a:spcBef>
                <a:spcPts val="2500"/>
              </a:spcBef>
              <a:defRPr sz="1100" b="1">
                <a:solidFill>
                  <a:srgbClr val="FFFFFF"/>
                </a:solidFill>
              </a:defRPr>
            </a:pPr>
            <a:r>
              <a:t>• Drag Guard</a:t>
            </a:r>
            <a:br/>
            <a:r>
              <a:t>• Log Guard</a:t>
            </a:r>
            <a:br/>
            <a:r>
              <a:t>• Excel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PRE-SCREEN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Double Question Banks (HR + Tech)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HR PRE-SCREENING ASSISTANT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14 Standardized HR Questions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• First 7: Standardized screening questions automatically prepended (expectations, reason for change, negotiation context, notice period).</a:t>
            </a:r>
            <a:br/>
            <a:r>
              <a:t>• Last 7: Dynamic, AI-generated questions tailored to the candidate's specific background details.</a:t>
            </a:r>
            <a:br/>
            <a:r>
              <a:t>• Integrated UI: Renders all 14 questions inside details tabs for instant recruiter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TECHNICAL KNOWLEDGE AUDIT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</a:defRPr>
            </a:pPr>
            <a:r>
              <a:t>Custom Tech Q&amp;A Panel</a:t>
            </a:r>
          </a:p>
          <a:p>
            <a:pPr>
              <a:spcBef>
                <a:spcPts val="1500"/>
              </a:spcBef>
              <a:defRPr sz="1400">
                <a:solidFill>
                  <a:srgbClr val="9CA3AF"/>
                </a:solidFill>
              </a:defRPr>
            </a:pPr>
            <a:r>
              <a:t>• Experience-Specific: Focuses on frameworks, databases, and architectures listed in their candidate profile.</a:t>
            </a:r>
            <a:br/>
            <a:r>
              <a:t>• On-Demand Refresh: A single click triggers backend regeneration, refreshing questions directly.</a:t>
            </a:r>
            <a:br/>
            <a:r>
              <a:t>• Structural Integrity: Validated in database documents under candidate details schema.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DATA SANITY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Feature Spotlight: Duplicate Candidate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1. Update Details</a:t>
            </a:r>
          </a:p>
          <a:p>
            <a:pPr>
              <a:spcBef>
                <a:spcPts val="500"/>
              </a:spcBef>
              <a:defRPr sz="1300">
                <a:solidFill>
                  <a:srgbClr val="9CA3AF"/>
                </a:solidFill>
              </a:defRPr>
            </a:pPr>
            <a:r>
              <a:t>Overwrites existing database values and files, keeping history logs and candidate 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Delete &amp; Re-Import</a:t>
            </a:r>
          </a:p>
          <a:p>
            <a:pPr>
              <a:spcBef>
                <a:spcPts val="500"/>
              </a:spcBef>
              <a:defRPr sz="1300">
                <a:solidFill>
                  <a:srgbClr val="9CA3AF"/>
                </a:solidFill>
              </a:defRPr>
            </a:pPr>
            <a:r>
              <a:t>Deletes existing candidate profile and search indexes first, then runs a fresh AI parse.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7185"/>
                </a:solidFill>
              </a:defRPr>
            </a:pPr>
            <a:r>
              <a:t>3. Delete Only</a:t>
            </a:r>
          </a:p>
          <a:p>
            <a:pPr>
              <a:spcBef>
                <a:spcPts val="500"/>
              </a:spcBef>
              <a:defRPr sz="1300">
                <a:solidFill>
                  <a:srgbClr val="9CA3AF"/>
                </a:solidFill>
              </a:defRPr>
            </a:pPr>
            <a:r>
              <a:t>Deletes the existing candidate profile and halts the current upload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CA3AF"/>
                </a:solidFill>
              </a:defRPr>
            </a:pPr>
            <a:r>
              <a:t>4. Cancel Sourcing</a:t>
            </a:r>
          </a:p>
          <a:p>
            <a:pPr>
              <a:spcBef>
                <a:spcPts val="500"/>
              </a:spcBef>
              <a:defRPr sz="1300">
                <a:solidFill>
                  <a:srgbClr val="9CA3AF"/>
                </a:solidFill>
              </a:defRPr>
            </a:pPr>
            <a:r>
              <a:t>Discards the temp uploaded file, keeping the database intact.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Security &amp; Governance: Role-Based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B7185"/>
                </a:solidFill>
              </a:defRPr>
            </a:pPr>
            <a:r>
              <a:t>■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Administrator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Full system rights. Accesses settings panel, manages recruiter credentials, triggers DB tools, and resets passwords.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■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HR Recruiter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Functional power. Uploads/deletes resumes, drags candidates on board, manages pipelines, and shares candidates with managers.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C55E"/>
                </a:solidFill>
              </a:defRPr>
            </a:pPr>
            <a:r>
              <a:t>■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Hiring Manager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Restricted access. Read-only candidate lists. Only views candidate profiles that are shared/assigned to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Architecture &amp; Cloud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0515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FRONTEND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React.js, Vite, Vanilla CSS (HUD glassmorphic layout), Lucide icons, DOM state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725912" cy="10515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BACKEND &amp; DATABASE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Node.js, Express.js REST API, MongoDB Atlas, Node-Scheduler, Multer file upload.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725912" cy="10515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AI ENGINES &amp; OCR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google/gemini-2.5-flash, local Ollama integrations, Python OCR Subsystem (OpenCV, PyMuPDF, Tesseract-OCR).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ROI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Business Value: ROI &amp; Metric Projections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22C55E"/>
                </a:solidFill>
              </a:defRPr>
            </a:pPr>
            <a:r>
              <a:t>-90%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Screening Overhead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Eliminates administrative burden, moving candidates from upload to first contact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6366F1"/>
                </a:solidFill>
              </a:defRPr>
            </a:pPr>
            <a:r>
              <a:t>+80%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Matching Accuracy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Semantic vector queries prevent qualified candidates from being rejected by legacy keyword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100%</a:t>
            </a:r>
          </a:p>
          <a:p>
            <a:pPr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Reliability Guarantee</a:t>
            </a:r>
          </a:p>
          <a:p>
            <a:pPr>
              <a:spcBef>
                <a:spcPts val="1000"/>
              </a:spcBef>
              <a:defRPr sz="1300">
                <a:solidFill>
                  <a:srgbClr val="9CA3AF"/>
                </a:solidFill>
              </a:defRPr>
            </a:pPr>
            <a:r>
              <a:t>Algorithmic safety filters eliminate date-math mistakes and LLM hallucinations.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45752" cy="36576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13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366F1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Empowering Recruitment Teams with Accurate AI</a:t>
            </a:r>
          </a:p>
          <a:p>
            <a:pPr algn="ctr">
              <a:spcBef>
                <a:spcPts val="20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Questions &amp; Answers</a:t>
            </a:r>
            <a:br/>
            <a:r>
              <a:t>TalentFlow Pitch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