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645920"/>
            <a:ext cx="9445752" cy="36576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103120"/>
            <a:ext cx="85313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6366F1"/>
                </a:solidFill>
                <a:latin typeface="Arial"/>
              </a:defRPr>
            </a:pPr>
            <a:r>
              <a:t>TALENTFLOW</a:t>
            </a:r>
          </a:p>
          <a:p>
            <a:pPr algn="ctr">
              <a:spcBef>
                <a:spcPts val="10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AI-Powered Recruiter Agent &amp; RAG Resume Parser</a:t>
            </a:r>
          </a:p>
          <a:p>
            <a:pPr algn="ctr">
              <a:spcBef>
                <a:spcPts val="1500"/>
              </a:spcBef>
              <a:defRPr sz="1400">
                <a:solidFill>
                  <a:srgbClr val="9CA3AF"/>
                </a:solidFill>
                <a:latin typeface="Arial"/>
              </a:defRPr>
            </a:pPr>
            <a:r>
              <a:t>Solving Recruitment Bottlenecks with Semantic Search &amp; Safety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TALENTFLOW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Recruitment Bottlenecks We 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B7185"/>
                </a:solidFill>
              </a:defRPr>
            </a:pPr>
            <a:r>
              <a:t>01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Manual Screening Overhead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Reviewing hundreds of resumes manually takes days, leading to high time-to-hire and missing out on top talent.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9CA3AF"/>
                </a:solidFill>
              </a:defRPr>
            </a:pPr>
            <a:r>
              <a:t>02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Keyword Matching Limits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Traditional ATS filters reject great candidates who use different synonyms, or accept unqualified ones who keyword-stuff.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B7185"/>
                </a:solidFill>
              </a:defRPr>
            </a:pPr>
            <a:r>
              <a:t>03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LLM Hallucinations &amp; Math Bugs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Standard AI parsers often fail at date calculations, mismatching candidates with requirements (e.g., flagging '5+ years' as missing for an 8-year professional).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TALENTFLOW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How TalentFlow Transforms the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✔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Semantic Vector Search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Candidates are indexed using embedding vectors. Recruiter searches find candidates by semantic intent, not just exact keywords.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9CA3AF"/>
                </a:solidFill>
              </a:defRPr>
            </a:pPr>
            <a:r>
              <a:t>✔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Strict Schema Extraction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Resumes are parsed securely using structured JSON schemas, extracting experience timelines, technical skills, and credentials accurately.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✔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Programmatic Safety Filters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A deterministic post-processing layer resolves LLM errors, matching experience and skills mathematically against job descriptions.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TALENTFLOW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System Architecture &amp;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366F1"/>
                </a:solidFill>
              </a:defRPr>
            </a:pPr>
            <a:r>
              <a:t>FRONTEND</a:t>
            </a:r>
          </a:p>
          <a:p>
            <a:pPr>
              <a:spcBef>
                <a:spcPts val="1000"/>
              </a:spcBef>
              <a:defRPr sz="2000" b="1">
                <a:solidFill>
                  <a:srgbClr val="FFFFFF"/>
                </a:solidFill>
              </a:defRPr>
            </a:pPr>
            <a:r>
              <a:t>Interactive UI</a:t>
            </a:r>
          </a:p>
          <a:p>
            <a:pPr>
              <a:spcBef>
                <a:spcPts val="1500"/>
              </a:spcBef>
              <a:defRPr sz="1300">
                <a:solidFill>
                  <a:srgbClr val="9CA3AF"/>
                </a:solidFill>
              </a:defRPr>
            </a:pPr>
            <a:r>
              <a:t>• React &amp; Vite for fast SPA</a:t>
            </a:r>
            <a:br/>
            <a:r>
              <a:t>• Premium glassmorphism dark theme</a:t>
            </a:r>
            <a:br/>
            <a:r>
              <a:t>• Interactive RAG Search console</a:t>
            </a:r>
            <a:br/>
            <a:r>
              <a:t>• Dynamic date filters &amp; calendar indicators</a:t>
            </a:r>
            <a:br/>
            <a:r>
              <a:t>• On-demand tailored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366F1"/>
                </a:solidFill>
              </a:defRPr>
            </a:pPr>
            <a:r>
              <a:t>BACKEND</a:t>
            </a:r>
          </a:p>
          <a:p>
            <a:pPr>
              <a:spcBef>
                <a:spcPts val="1000"/>
              </a:spcBef>
              <a:defRPr sz="2000" b="1">
                <a:solidFill>
                  <a:srgbClr val="FFFFFF"/>
                </a:solidFill>
              </a:defRPr>
            </a:pPr>
            <a:r>
              <a:t>Node.js &amp; Express API</a:t>
            </a:r>
          </a:p>
          <a:p>
            <a:pPr>
              <a:spcBef>
                <a:spcPts val="1500"/>
              </a:spcBef>
              <a:defRPr sz="1300">
                <a:solidFill>
                  <a:srgbClr val="9CA3AF"/>
                </a:solidFill>
              </a:defRPr>
            </a:pPr>
            <a:r>
              <a:t>• Express REST controllers</a:t>
            </a:r>
            <a:br/>
            <a:r>
              <a:t>• MongoDB Mongoose candidate models</a:t>
            </a:r>
            <a:br/>
            <a:r>
              <a:t>• Programmatic pre-scoring date range extraction</a:t>
            </a:r>
            <a:br/>
            <a:r>
              <a:t>• Batch candidate retrieval</a:t>
            </a:r>
            <a:br/>
            <a:r>
              <a:t>• LLM post-processing logic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366F1"/>
                </a:solidFill>
              </a:defRPr>
            </a:pPr>
            <a:r>
              <a:t>AI ENGINE</a:t>
            </a:r>
          </a:p>
          <a:p>
            <a:pPr>
              <a:spcBef>
                <a:spcPts val="1000"/>
              </a:spcBef>
              <a:defRPr sz="2000" b="1">
                <a:solidFill>
                  <a:srgbClr val="FFFFFF"/>
                </a:solidFill>
              </a:defRPr>
            </a:pPr>
            <a:r>
              <a:t>RAG &amp; LLM Services</a:t>
            </a:r>
          </a:p>
          <a:p>
            <a:pPr>
              <a:spcBef>
                <a:spcPts val="1500"/>
              </a:spcBef>
              <a:defRPr sz="1300">
                <a:solidFill>
                  <a:srgbClr val="9CA3AF"/>
                </a:solidFill>
              </a:defRPr>
            </a:pPr>
            <a:r>
              <a:t>• Gemini Pro &amp; Ollama providers</a:t>
            </a:r>
            <a:br/>
            <a:r>
              <a:t>• Embedding vector search integration</a:t>
            </a:r>
            <a:br/>
            <a:r>
              <a:t>• Dynamic date prompt injection</a:t>
            </a:r>
            <a:br/>
            <a:r>
              <a:t>• Structure schema extraction (JSON)</a:t>
            </a:r>
            <a:br/>
            <a:r>
              <a:t>• Algorithmic match-safety filter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TALENTFLOW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Key Experience Matching Fixes Implemented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7185"/>
                </a:solidFill>
              </a:defRPr>
            </a:pPr>
            <a:r>
              <a:t>PROBLEM: EXTRANEOUS MISSING SKILLS</a:t>
            </a:r>
          </a:p>
          <a:p>
            <a:pPr>
              <a:spcBef>
                <a:spcPts val="1000"/>
              </a:spcBef>
              <a:defRPr sz="2000" b="1">
                <a:solidFill>
                  <a:srgbClr val="FFFFFF"/>
                </a:solidFill>
              </a:defRPr>
            </a:pPr>
            <a:r>
              <a:t>Experience Mismatch Issues</a:t>
            </a:r>
          </a:p>
          <a:p>
            <a:pPr>
              <a:spcBef>
                <a:spcPts val="1500"/>
              </a:spcBef>
              <a:defRPr sz="1400">
                <a:solidFill>
                  <a:srgbClr val="9CA3AF"/>
                </a:solidFill>
              </a:defRPr>
            </a:pPr>
            <a:r>
              <a:t>1. AI model calculated experience (e.g. 8 years) but flagged '5+ year experience' as missing because it wasn't in the skills text array.</a:t>
            </a:r>
            <a:br/>
            <a:br/>
            <a:r>
              <a:t>2. Lack of absolute date context made the LLM guess durations for jobs with 'Present' end dates.</a:t>
            </a:r>
            <a:br/>
            <a:br/>
            <a:r>
              <a:t>3. Searching matches retrieved outdated resumes without any date boundary.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</a:defRPr>
            </a:pPr>
            <a:r>
              <a:t>SOLUTION: DETERMINISTIC FALLBACK &amp; DATE INJECTION</a:t>
            </a:r>
          </a:p>
          <a:p>
            <a:pPr>
              <a:spcBef>
                <a:spcPts val="1000"/>
              </a:spcBef>
              <a:defRPr sz="2000" b="1">
                <a:solidFill>
                  <a:srgbClr val="FFFFFF"/>
                </a:solidFill>
              </a:defRPr>
            </a:pPr>
            <a:r>
              <a:t>Engineering Solid Reliability</a:t>
            </a:r>
          </a:p>
          <a:p>
            <a:pPr>
              <a:spcBef>
                <a:spcPts val="1500"/>
              </a:spcBef>
              <a:defRPr sz="1400">
                <a:solidFill>
                  <a:srgbClr val="9CA3AF"/>
                </a:solidFill>
              </a:defRPr>
            </a:pPr>
            <a:r>
              <a:t>1. Programmatic Safety Filter: Intercepts matches to automatically move experience requirements from 'Missing' to 'Matches' based on computed timeline values.</a:t>
            </a:r>
            <a:br/>
            <a:br/>
            <a:r>
              <a:t>2. Context Date Injection: Feeds today's date dynamically to the LLM system prompt to evaluate 'Present' roles accurately.</a:t>
            </a:r>
            <a:br/>
            <a:br/>
            <a:r>
              <a:t>3. Custom Date Range Filters: Enables recruiters to filter matched candidate lists by resume upload date ranges.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TALENTFLOW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Business Impact &amp; Key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22C55E"/>
                </a:solidFill>
              </a:defRPr>
            </a:pPr>
            <a:r>
              <a:t>-90%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Screening Time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Reduces candidate pre-screening from hours to seconds per batch.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6366F1"/>
                </a:solidFill>
              </a:defRPr>
            </a:pPr>
            <a:r>
              <a:t>+80%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Match Accuracy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Semantic vector search targets skill intent instead of simple keyword spelling.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22C55E"/>
                </a:solidFill>
              </a:defRPr>
            </a:pPr>
            <a:r>
              <a:t>100%</a:t>
            </a:r>
          </a:p>
          <a:p>
            <a:pPr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Reliability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Algorithmic safety filters eliminate experience hallucinations.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645920"/>
            <a:ext cx="9445752" cy="365760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13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366F1"/>
                </a:solidFill>
                <a:latin typeface="Arial"/>
              </a:defRPr>
            </a:pPr>
            <a:r>
              <a:t>Thank You</a:t>
            </a:r>
          </a:p>
          <a:p>
            <a:pPr algn="ctr">
              <a:spcBef>
                <a:spcPts val="10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TalentFlow: Empowering Recruiters with Resilient AI</a:t>
            </a:r>
          </a:p>
          <a:p>
            <a:pPr algn="ctr">
              <a:spcBef>
                <a:spcPts val="2000"/>
              </a:spcBef>
              <a:defRPr sz="1600">
                <a:solidFill>
                  <a:srgbClr val="9CA3AF"/>
                </a:solidFill>
                <a:latin typeface="Arial"/>
              </a:defRPr>
            </a:pPr>
            <a:r>
              <a:t>Questions &amp;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